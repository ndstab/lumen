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Lumen is an interactive science learning app for Classes 8 and 9. The point of the project is the clickstream: everything a learner does is captured, stored, and turned into something an educator can act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line of the brief is met. The rest of the deck is about how, and about the decisions that were not obvious.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a course correction after the first design pass, and it is why the app looks the way it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figures are drawn to correct geometry, not sketched. The ray diagram traces real construction rays that meet where the image actually forms.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Text, video and quiz in one place. The brief asked for a combination and this is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direction is a risograph printed science zine: two flat spot colours on cream stock, thick keylines, hard offset shadows instead of blurs.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names clicks explicitly. A global listener means untagged elements are still identified, from their tag, id and visible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decision the analytics depend on. It is also a requirement-compliance decision, since the brief names video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columns are the export shape, not the storage shape. The reference sample was a Moodle standard log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demo I keep this open beside the learner window. Seeks and quiz answers arrive as they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numbers on this slide are read out of the seeded demonstration database when the deck is generated.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chart, activity over time, shows when the class actually works. It is on the same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one of these is a decision I can defend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Repository, README, design specification and demo video all live in the same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325" y="635325"/>
            <a:ext cx="310896" cy="310896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66928"/>
            <a:ext cx="310896" cy="310896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4173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analytics project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8288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Lumen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566928" y="3246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science for Classes 8 and 9, built around a complete clickstream.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66928" y="4343400"/>
            <a:ext cx="2194560" cy="41148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courses  ·  13 lessons  ·  70 questions  ·  31 event types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github.com/ndstab/lumen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asked, and what it does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85216" y="1874520"/>
            <a:ext cx="155448" cy="155448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8288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log in as learners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041648" y="18288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password, bcrypt, server-side sessions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155448" cy="155448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3957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content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041648" y="239572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with drawn figures, video, and quizzes in every lesson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5216" y="3008376"/>
            <a:ext cx="155448" cy="155448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29626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all user activity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041648" y="2962656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Clicks, page views, video actions, quiz attempts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5216" y="3575304"/>
            <a:ext cx="155448" cy="155448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35295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the clickstream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041648" y="352958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action, queryable and exportable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5216" y="4142232"/>
            <a:ext cx="155448" cy="155448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0965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web app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041648" y="40965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and SQLite, runs from one folder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85216" y="4709160"/>
            <a:ext cx="155448" cy="155448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4663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041648" y="46634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throughout, committed as it was built</a:t>
            </a:r>
            <a:endParaRPr lang="en-US" sz="1300" dirty="0"/>
          </a:p>
        </p:txBody>
      </p:sp>
      <p:pic>
        <p:nvPicPr>
          <p:cNvPr id="24" name="Image 0" descr="/Users/ndstab/Desktop/et/docs/screens/catalo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828800"/>
            <a:ext cx="4004109" cy="237744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  <p:sp>
        <p:nvSpPr>
          <p:cNvPr id="25" name="Text 22"/>
          <p:cNvSpPr/>
          <p:nvPr/>
        </p:nvSpPr>
        <p:spPr>
          <a:xfrm>
            <a:off x="7589520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courses, each with its own progress.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30936" y="5294376"/>
            <a:ext cx="2468880" cy="1170432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27" name="Shape 24"/>
          <p:cNvSpPr/>
          <p:nvPr/>
        </p:nvSpPr>
        <p:spPr>
          <a:xfrm>
            <a:off x="566928" y="5230368"/>
            <a:ext cx="246888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68096" y="5358384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2,206</a:t>
            </a:r>
            <a:endParaRPr lang="en-US" sz="3000" dirty="0"/>
          </a:p>
        </p:txBody>
      </p:sp>
      <p:sp>
        <p:nvSpPr>
          <p:cNvPr id="29" name="Text 26"/>
          <p:cNvSpPr/>
          <p:nvPr/>
        </p:nvSpPr>
        <p:spPr>
          <a:xfrm>
            <a:off x="768096" y="5943600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recorded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3419856" y="5294376"/>
            <a:ext cx="2468880" cy="1170432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31" name="Shape 28"/>
          <p:cNvSpPr/>
          <p:nvPr/>
        </p:nvSpPr>
        <p:spPr>
          <a:xfrm>
            <a:off x="3355848" y="5230368"/>
            <a:ext cx="246888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557016" y="5358384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000" dirty="0"/>
          </a:p>
        </p:txBody>
      </p:sp>
      <p:sp>
        <p:nvSpPr>
          <p:cNvPr id="33" name="Text 30"/>
          <p:cNvSpPr/>
          <p:nvPr/>
        </p:nvSpPr>
        <p:spPr>
          <a:xfrm>
            <a:off x="3557016" y="5943600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types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6208776" y="5294376"/>
            <a:ext cx="2468880" cy="1170432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5" name="Shape 32"/>
          <p:cNvSpPr/>
          <p:nvPr/>
        </p:nvSpPr>
        <p:spPr>
          <a:xfrm>
            <a:off x="6144768" y="5230368"/>
            <a:ext cx="246888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345936" y="5358384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37" name="Text 34"/>
          <p:cNvSpPr/>
          <p:nvPr/>
        </p:nvSpPr>
        <p:spPr>
          <a:xfrm>
            <a:off x="6345936" y="5943600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learners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997696" y="5294376"/>
            <a:ext cx="2468880" cy="1170432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39" name="Shape 36"/>
          <p:cNvSpPr/>
          <p:nvPr/>
        </p:nvSpPr>
        <p:spPr>
          <a:xfrm>
            <a:off x="8933688" y="5230368"/>
            <a:ext cx="246888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134856" y="5358384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474</a:t>
            </a:r>
            <a:endParaRPr lang="en-US" sz="3000" dirty="0"/>
          </a:p>
        </p:txBody>
      </p:sp>
      <p:sp>
        <p:nvSpPr>
          <p:cNvPr id="41" name="Text 38"/>
          <p:cNvSpPr/>
          <p:nvPr/>
        </p:nvSpPr>
        <p:spPr>
          <a:xfrm>
            <a:off x="9134856" y="5943600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graded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 shaped everything else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suggested young children. I moved the target to Classes 8 and 9, roughly 13 to 15.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66928" y="27432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13 to 15 a cartoon mascot reads as condescending, and it is the fastest route to a generic educational product.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reading passages stay in scope, so legibility outranks atmosphere.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the learner as a junior scientist is more respectful and more visually interesting.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07808" y="1892808"/>
            <a:ext cx="4069080" cy="283464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9" name="Shape 7"/>
          <p:cNvSpPr/>
          <p:nvPr/>
        </p:nvSpPr>
        <p:spPr>
          <a:xfrm>
            <a:off x="7543800" y="1828800"/>
            <a:ext cx="4069080" cy="2834640"/>
          </a:xfrm>
          <a:prstGeom prst="rect">
            <a:avLst/>
          </a:prstGeom>
          <a:solidFill>
            <a:srgbClr val="EDE6CF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0" y="214884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text is too small to read comfortably, it either gets bigger or it goes.”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863840" y="379476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adopted for the whole application after the first design review.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syllabus content, not filler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30936" y="1938528"/>
            <a:ext cx="3429000" cy="214884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74520"/>
            <a:ext cx="3429000" cy="2148840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lessons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24323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22960" y="303580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Reflection, refraction and the human eye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25696" y="1938528"/>
            <a:ext cx="3429000" cy="214884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361688" y="1874520"/>
            <a:ext cx="3429000" cy="2148840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103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lessons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17720" y="24323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Cell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617720" y="303580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every living thing is built from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0456" y="1938528"/>
            <a:ext cx="3429000" cy="214884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156448" y="1874520"/>
            <a:ext cx="3429000" cy="2148840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2103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lessons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12480" y="24323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and Motion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8412480" y="303580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Pushes, pulls, pressure and speed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the NCERT syllabus for Classes 8 and 9. Every lesson combines a reading with drawn figures, a video, and a quiz.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30936" y="5093208"/>
            <a:ext cx="2468880" cy="1170432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5029200"/>
            <a:ext cx="246888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" y="5157216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68096" y="5742432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419856" y="5093208"/>
            <a:ext cx="2468880" cy="1170432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27" name="Shape 25"/>
          <p:cNvSpPr/>
          <p:nvPr/>
        </p:nvSpPr>
        <p:spPr>
          <a:xfrm>
            <a:off x="3355848" y="5029200"/>
            <a:ext cx="246888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57016" y="5157216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3557016" y="5742432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208776" y="5093208"/>
            <a:ext cx="2468880" cy="1170432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5029200"/>
            <a:ext cx="246888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45936" y="5157216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6345936" y="5742432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figures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997696" y="5093208"/>
            <a:ext cx="2468880" cy="1170432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35" name="Shape 33"/>
          <p:cNvSpPr/>
          <p:nvPr/>
        </p:nvSpPr>
        <p:spPr>
          <a:xfrm>
            <a:off x="8933688" y="5029200"/>
            <a:ext cx="246888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34856" y="5157216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9134856" y="5742432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videos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learner view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lesson is three kinds of content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874520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reading, with figures hand-built as SVG to correct geometry.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video in a player written for this app, not an embed.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quiz graded on the server, which explains either way.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in the rail: video watched, best score, what completes the lesson.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4572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navigation. Nothing is locked, which also makes abandonment visible in the data.</a:t>
            </a:r>
            <a:endParaRPr lang="en-US" sz="1300" dirty="0"/>
          </a:p>
        </p:txBody>
      </p:sp>
      <p:pic>
        <p:nvPicPr>
          <p:cNvPr id="8" name="Image 0" descr="/Users/ndstab/Desktop/et/docs/screens/les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783080"/>
            <a:ext cx="5684955" cy="466344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directions, drawn as real screens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30936" y="1938528"/>
            <a:ext cx="3429000" cy="2286000"/>
          </a:xfrm>
          <a:prstGeom prst="rect">
            <a:avLst/>
          </a:prstGeom>
          <a:solidFill>
            <a:srgbClr val="C9C2A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74520"/>
            <a:ext cx="3429000" cy="2286000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Notebook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25786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Serif throughout, warm paper, hairline rules.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31012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intellectual. Risk: reads as quiet.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25696" y="1938528"/>
            <a:ext cx="3429000" cy="2286000"/>
          </a:xfrm>
          <a:prstGeom prst="rect">
            <a:avLst/>
          </a:prstGeom>
          <a:solidFill>
            <a:srgbClr val="C9C2A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61688" y="1874520"/>
            <a:ext cx="3429000" cy="2286000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25786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navy, cyan, technical sans.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17720" y="331012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video chrome. Risk: harder to read at length.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0456" y="1938528"/>
            <a:ext cx="3429000" cy="228600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156448" y="1874520"/>
            <a:ext cx="3429000" cy="2286000"/>
          </a:xfrm>
          <a:prstGeom prst="rect">
            <a:avLst/>
          </a:prstGeom>
          <a:solidFill>
            <a:srgbClr val="EDE6CF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Riso Press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12480" y="25786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 stock, blue and orange, hard offset shadows.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0" y="331012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Energetic without being childish. Chosen.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4434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as full lesson screens rather than colour swatches, so the choice was made on how it reads, not how it samples.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66928" y="50292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48"/>
              </a:lnSpc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typefaces do all the work. A third appears only inside diagrams, never as interface chrome.</a:t>
            </a:r>
            <a:endParaRPr lang="en-US" sz="1400" dirty="0"/>
          </a:p>
          <a:p>
            <a:pPr marL="342900" indent="-342900">
              <a:lnSpc>
                <a:spcPts val="1848"/>
              </a:lnSpc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colour is an OKLCH token. No inline colour values anywhere.</a:t>
            </a:r>
            <a:endParaRPr lang="en-US" sz="1400" dirty="0"/>
          </a:p>
          <a:p>
            <a:pPr marL="342900" indent="-342900">
              <a:lnSpc>
                <a:spcPts val="1848"/>
              </a:lnSpc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type token exists below 15px, so a smaller size cannot be reached by accident.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clickstream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the brief names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44475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Twenty-two event types, kept few enough to analyse.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0574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84448" y="2057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viewed · Element clicked · Link followed · Page scrolled · Page hidden · Page shown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2953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84448" y="295351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· paused · resumed · seeked · ended · rate changed · volume changed · fullscreen · buffering · milestone · heartbeat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895344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384962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84448" y="3849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started · option selected · answer cleared · question answered · attempt submitted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791456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7" name="Text 15"/>
          <p:cNvSpPr/>
          <p:nvPr/>
        </p:nvSpPr>
        <p:spPr>
          <a:xfrm>
            <a:off x="877824" y="474573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Lesson, Course, User, Report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584448" y="4745736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viewed · Course viewed · Catalogue viewed · Account created · Logged in and out · Login failed · Reports viewed · Clickstream exported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7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are captured by one listener on the document in the capture phase, not by handlers on the elements someone remembered to instrument.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pivotal decision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video player is written, not embedded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30936" y="1892808"/>
            <a:ext cx="5212080" cy="3017520"/>
          </a:xfrm>
          <a:prstGeom prst="rect">
            <a:avLst/>
          </a:prstGeom>
          <a:solidFill>
            <a:srgbClr val="C9C2A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28800"/>
            <a:ext cx="5212080" cy="3017520"/>
          </a:xfrm>
          <a:prstGeom prst="rect">
            <a:avLst/>
          </a:prstGeom>
          <a:solidFill>
            <a:srgbClr val="EDE6CF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057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75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embedded third party player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256032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play, pause, ended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seeks only by polling the clock and guessing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reliable buffering signal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quartile milestones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ads, and an escape hatch off your site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7648" y="1892808"/>
            <a:ext cx="5349240" cy="301752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1" name="Shape 9"/>
          <p:cNvSpPr/>
          <p:nvPr/>
        </p:nvSpPr>
        <p:spPr>
          <a:xfrm>
            <a:off x="6263640" y="1828800"/>
            <a:ext cx="5349240" cy="3017520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0574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player written for this app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560320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seeks with both endpoints, direction and jump size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playback rate and volume changes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buffering stalls, start and end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at 25, 50, 75 and 100 percent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watch-time heartbeats during playback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66928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drop-off chart is only possible because of the milestone events. 360 video events recorded so far.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rich, exported in the reference format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carry more than the export needs: user and session, course and lesson, path, user agent, and a JSON payload for the event-specific detail.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0936" y="2852928"/>
            <a:ext cx="5486400" cy="160020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2788920"/>
            <a:ext cx="5486400" cy="1600200"/>
          </a:xfrm>
          <a:prstGeom prst="rect">
            <a:avLst/>
          </a:prstGeom>
          <a:solidFill>
            <a:srgbClr val="EDE6CF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992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"from": 84.2, "to": 61.0,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"direction": "backward",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"jumpSeconds": 23.2 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seek, as stored.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seven exported columns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2402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6517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occurred_at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context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context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component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name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event_name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description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origin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 address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6492240" y="4709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in one module, so the on-screen report and the CSV cannot drift apart.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30936" y="5321808"/>
            <a:ext cx="11064240" cy="105156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5" name="Shape 12"/>
          <p:cNvSpPr/>
          <p:nvPr/>
        </p:nvSpPr>
        <p:spPr>
          <a:xfrm>
            <a:off x="566928" y="5257800"/>
            <a:ext cx="11064240" cy="1051560"/>
          </a:xfrm>
          <a:prstGeom prst="rect">
            <a:avLst/>
          </a:prstGeom>
          <a:solidFill>
            <a:srgbClr val="EDE6CF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1248" y="5468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2,206 rows stored so far, spanning eight days of seeded class activity. The export writes them in the reference order, with a byte order mark so Excel opens the UTF-8 correctly.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stream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Educators watch it live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recorded action, newest first, refreshing itself.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learner, course, component, event name, date range, or free text.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CSV in the same seven columns.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 activity is logged too, so the record never goes quiet.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" y="4590288"/>
            <a:ext cx="1874520" cy="1170432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4526280"/>
            <a:ext cx="187452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4654296"/>
            <a:ext cx="1472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2,206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68096" y="523951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recorded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88336" y="4590288"/>
            <a:ext cx="1874520" cy="1170432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2624328" y="4526280"/>
            <a:ext cx="187452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25496" y="4654296"/>
            <a:ext cx="1472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825496" y="523951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types</a:t>
            </a:r>
            <a:endParaRPr lang="en-US" sz="1250" dirty="0"/>
          </a:p>
        </p:txBody>
      </p:sp>
      <p:pic>
        <p:nvPicPr>
          <p:cNvPr id="15" name="Image 0" descr="/Users/ndstab/Desktop/et/docs/screens/event-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783080"/>
            <a:ext cx="6045015" cy="461772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one of three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learners stop watching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68 video starts, 97% reached a quarter of the way, 62% reached half, 24% reached three quarters, and 9% reached the end.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310896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cliff between two points is the moment to look at. It usually means the explanation lost people there, not that the film was too long.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443484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the player's milestone events. Impossible with an embed.</a:t>
            </a:r>
            <a:endParaRPr lang="en-US" sz="1300" dirty="0"/>
          </a:p>
        </p:txBody>
      </p:sp>
      <p:pic>
        <p:nvPicPr>
          <p:cNvPr id="9" name="Image 0" descr="/Users/ndstab/Desktop/et/docs/screen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783080"/>
            <a:ext cx="6517843" cy="452628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two of three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questions are actually hard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correct across all 474 recorded answers, hardest first.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counts separately, including retakes.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that stays red after repeated attempts is a teaching problem, not a difficulty setting.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" y="4453128"/>
            <a:ext cx="1874520" cy="1170432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4389120"/>
            <a:ext cx="187452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4517136"/>
            <a:ext cx="1472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68096" y="510235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attempts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88336" y="4453128"/>
            <a:ext cx="1874520" cy="1170432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2624328" y="4389120"/>
            <a:ext cx="1874520" cy="1170432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25496" y="4517136"/>
            <a:ext cx="1472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825496" y="510235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graded</a:t>
            </a:r>
            <a:endParaRPr lang="en-US" sz="1250" dirty="0"/>
          </a:p>
        </p:txBody>
      </p:sp>
      <p:pic>
        <p:nvPicPr>
          <p:cNvPr id="15" name="Image 0" descr="/Users/ndstab/Desktop/et/docs/screens/difficul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783080"/>
            <a:ext cx="6517843" cy="452628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small, deliberate stack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and React 19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21284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TypeScript, server components for reads.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27648" y="1874520"/>
            <a:ext cx="146304" cy="146304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0" name="Text 8"/>
          <p:cNvSpPr/>
          <p:nvPr/>
        </p:nvSpPr>
        <p:spPr>
          <a:xfrm>
            <a:off x="6638544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38544" y="221284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no service to provision. The deliverable is a repository, not a deployment.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74720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CSS tokens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77824" y="381304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OKLCH custom properties. No component library to fight.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27648" y="3474720"/>
            <a:ext cx="146304" cy="146304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6" name="Text 14"/>
          <p:cNvSpPr/>
          <p:nvPr/>
        </p:nvSpPr>
        <p:spPr>
          <a:xfrm>
            <a:off x="6638544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chart library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38544" y="381304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charts, each a fixed shape, drawn as SVG in the same palette as the figures.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" y="5093208"/>
            <a:ext cx="11064240" cy="114300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5029200"/>
            <a:ext cx="11064240" cy="1143000"/>
          </a:xfrm>
          <a:prstGeom prst="rect">
            <a:avLst/>
          </a:prstGeom>
          <a:solidFill>
            <a:srgbClr val="EDE6CF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driving the running system: every screen, the full video event surface, all three question types, the export against the reference format, and the charts against 2,206 real rows.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325" y="635325"/>
            <a:ext cx="310896" cy="310896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66928"/>
            <a:ext cx="310896" cy="310896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9202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Lumen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87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it. Watch it. Then prove you have it.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3840480"/>
            <a:ext cx="2194560" cy="41148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206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2,206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66928" y="4754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55848" y="4206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355848" y="4754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44768" y="4206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44768" y="4754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933688" y="4206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933688" y="4754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graded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6928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github.com/ndstab/lumen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</dc:title>
  <dc:subject>PptxGenJS Presentation</dc:subject>
  <dc:creator>ndstab</dc:creator>
  <cp:lastModifiedBy>ndstab</cp:lastModifiedBy>
  <cp:revision>1</cp:revision>
  <dcterms:created xsi:type="dcterms:W3CDTF">2026-08-05T14:48:50Z</dcterms:created>
  <dcterms:modified xsi:type="dcterms:W3CDTF">2026-08-05T14:48:50Z</dcterms:modified>
</cp:coreProperties>
</file>