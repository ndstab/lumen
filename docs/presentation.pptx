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Lumen is an interactive science app for Classes 8 and 9, built around a complete record of what learners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roles. Learners see courses and their own progress. Educators see everything that happened.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Twelve figures across the three courses, each drawn rather than borrowed.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Text, video and quiz on one page, in that order.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Storing every attempt separately is what makes the difficulty analysis possible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components, twenty-plus event types. Small enough to analyse, complete enough to reconstruct a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317 video events recorded so far, and 59 minutes of watch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this beside the learner app and rows arrive as you click.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reference sample for this project was a Moodle log export. The output matches it column for column.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Built from the milestone events the player emits at each quarter.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Ranked hardest first, so the questions worth rewriting sit at the 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 charts together answer questions a grade book cannot.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hosting required to see it working. It runs on a laptop from a clean clone.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Repository, README, design specification and demo video are all in the same 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325" y="635325"/>
            <a:ext cx="310896" cy="310896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566928"/>
            <a:ext cx="310896" cy="310896"/>
          </a:xfrm>
          <a:prstGeom prst="rect">
            <a:avLst/>
          </a:prstGeom>
          <a:solidFill>
            <a:srgbClr val="2E5BD4"/>
          </a:solidFill>
          <a:ln w="15875">
            <a:solidFill>
              <a:srgbClr val="1E23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41732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7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science, Classes 8 and 9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182880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0" b="1" dirty="0">
                <a:solidFill>
                  <a:srgbClr val="F5EF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Lumen</a:t>
            </a:r>
            <a:endParaRPr lang="en-US" sz="8400" dirty="0"/>
          </a:p>
        </p:txBody>
      </p:sp>
      <p:sp>
        <p:nvSpPr>
          <p:cNvPr id="6" name="Text 4"/>
          <p:cNvSpPr/>
          <p:nvPr/>
        </p:nvSpPr>
        <p:spPr>
          <a:xfrm>
            <a:off x="566928" y="324612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A9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it. Watch it. Then prove you have it.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66928" y="4160520"/>
            <a:ext cx="2194560" cy="41148"/>
          </a:xfrm>
          <a:prstGeom prst="rect">
            <a:avLst/>
          </a:prstGeom>
          <a:solidFill>
            <a:srgbClr val="2E5BD4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480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5EF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courses  ·  13 lessons  ·  70 questions  ·  a film for every lesson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66928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github.com/ndstab/lumen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2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2" y="497434"/>
            <a:ext cx="182880" cy="182880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57200"/>
            <a:ext cx="182880" cy="182880"/>
          </a:xfrm>
          <a:prstGeom prst="rect">
            <a:avLst/>
          </a:prstGeom>
          <a:solidFill>
            <a:srgbClr val="2E5BD4"/>
          </a:solidFill>
          <a:ln w="15875">
            <a:solidFill>
              <a:srgbClr val="1E23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5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84124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course, a lesson, and a record of everything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66928" y="1828800"/>
            <a:ext cx="5029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80"/>
              </a:lnSpc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Learners sign in, pick a course, and work through lessons at their own pace.</a:t>
            </a:r>
            <a:endParaRPr lang="en-US" sz="1500" dirty="0"/>
          </a:p>
          <a:p>
            <a:pPr marL="342900" indent="-342900">
              <a:lnSpc>
                <a:spcPts val="1980"/>
              </a:lnSpc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lesson is a reading with drawn figures, a short film, and a quiz.</a:t>
            </a:r>
            <a:endParaRPr lang="en-US" sz="1500" dirty="0"/>
          </a:p>
          <a:p>
            <a:pPr marL="342900" indent="-342900">
              <a:lnSpc>
                <a:spcPts val="1980"/>
              </a:lnSpc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is tracked per lesson and per course.</a:t>
            </a:r>
            <a:endParaRPr lang="en-US" sz="1500" dirty="0"/>
          </a:p>
          <a:p>
            <a:pPr marL="342900" indent="-342900">
              <a:lnSpc>
                <a:spcPts val="1980"/>
              </a:lnSpc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Educators get the whole activity record: a live stream, a standard format export, and three analytics views.</a:t>
            </a:r>
            <a:endParaRPr lang="en-US" sz="1500" dirty="0"/>
          </a:p>
        </p:txBody>
      </p:sp>
      <p:pic>
        <p:nvPicPr>
          <p:cNvPr id="7" name="Image 0" descr="/Users/ndstab/Desktop/et/docs/screens/catalog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783080"/>
            <a:ext cx="5159141" cy="3063240"/>
          </a:xfrm>
          <a:prstGeom prst="rect">
            <a:avLst/>
          </a:prstGeom>
          <a:effectLst>
            <a:outerShdw sx="100000" sy="100000" kx="0" ky="0" algn="bl" rotWithShape="0" blurRad="101600" dist="889" dir="2700000">
              <a:srgbClr val="1E2340">
                <a:alpha val="100000"/>
              </a:srgbClr>
            </a:outerShdw>
          </a:effectLst>
        </p:spPr>
      </p:pic>
      <p:sp>
        <p:nvSpPr>
          <p:cNvPr id="8" name="Shape 5"/>
          <p:cNvSpPr/>
          <p:nvPr/>
        </p:nvSpPr>
        <p:spPr>
          <a:xfrm>
            <a:off x="630936" y="5184648"/>
            <a:ext cx="2468880" cy="1133856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9" name="Shape 6"/>
          <p:cNvSpPr/>
          <p:nvPr/>
        </p:nvSpPr>
        <p:spPr>
          <a:xfrm>
            <a:off x="566928" y="5120640"/>
            <a:ext cx="2468880" cy="1133856"/>
          </a:xfrm>
          <a:prstGeom prst="rect">
            <a:avLst/>
          </a:prstGeom>
          <a:solidFill>
            <a:srgbClr val="F7F2E2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68096" y="5239512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768096" y="5815584"/>
            <a:ext cx="20665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courses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419856" y="5184648"/>
            <a:ext cx="2468880" cy="1133856"/>
          </a:xfrm>
          <a:prstGeom prst="rect">
            <a:avLst/>
          </a:prstGeom>
          <a:solidFill>
            <a:srgbClr val="2E5BD4"/>
          </a:solidFill>
          <a:ln/>
        </p:spPr>
      </p:sp>
      <p:sp>
        <p:nvSpPr>
          <p:cNvPr id="13" name="Shape 10"/>
          <p:cNvSpPr/>
          <p:nvPr/>
        </p:nvSpPr>
        <p:spPr>
          <a:xfrm>
            <a:off x="3355848" y="5120640"/>
            <a:ext cx="2468880" cy="1133856"/>
          </a:xfrm>
          <a:prstGeom prst="rect">
            <a:avLst/>
          </a:prstGeom>
          <a:solidFill>
            <a:srgbClr val="F7F2E2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57016" y="5239512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3557016" y="5815584"/>
            <a:ext cx="20665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208776" y="5184648"/>
            <a:ext cx="2468880" cy="1133856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17" name="Shape 14"/>
          <p:cNvSpPr/>
          <p:nvPr/>
        </p:nvSpPr>
        <p:spPr>
          <a:xfrm>
            <a:off x="6144768" y="5120640"/>
            <a:ext cx="2468880" cy="1133856"/>
          </a:xfrm>
          <a:prstGeom prst="rect">
            <a:avLst/>
          </a:prstGeom>
          <a:solidFill>
            <a:srgbClr val="F7F2E2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5239512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</a:t>
            </a:r>
            <a:endParaRPr lang="en-US" sz="2800" dirty="0"/>
          </a:p>
        </p:txBody>
      </p:sp>
      <p:sp>
        <p:nvSpPr>
          <p:cNvPr id="19" name="Text 16"/>
          <p:cNvSpPr/>
          <p:nvPr/>
        </p:nvSpPr>
        <p:spPr>
          <a:xfrm>
            <a:off x="6345936" y="5815584"/>
            <a:ext cx="20665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997696" y="5184648"/>
            <a:ext cx="2468880" cy="1133856"/>
          </a:xfrm>
          <a:prstGeom prst="rect">
            <a:avLst/>
          </a:prstGeom>
          <a:solidFill>
            <a:srgbClr val="2E5BD4"/>
          </a:solidFill>
          <a:ln/>
        </p:spPr>
      </p:sp>
      <p:sp>
        <p:nvSpPr>
          <p:cNvPr id="21" name="Shape 18"/>
          <p:cNvSpPr/>
          <p:nvPr/>
        </p:nvSpPr>
        <p:spPr>
          <a:xfrm>
            <a:off x="8933688" y="5120640"/>
            <a:ext cx="2468880" cy="1133856"/>
          </a:xfrm>
          <a:prstGeom prst="rect">
            <a:avLst/>
          </a:prstGeom>
          <a:solidFill>
            <a:srgbClr val="F7F2E2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34856" y="5239512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9134856" y="5815584"/>
            <a:ext cx="20665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drawn figures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2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2" y="497434"/>
            <a:ext cx="182880" cy="182880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57200"/>
            <a:ext cx="182880" cy="182880"/>
          </a:xfrm>
          <a:prstGeom prst="rect">
            <a:avLst/>
          </a:prstGeom>
          <a:solidFill>
            <a:srgbClr val="2E5BD4"/>
          </a:solidFill>
          <a:ln w="15875">
            <a:solidFill>
              <a:srgbClr val="1E23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5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can study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84124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courses, real syllabus content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30936" y="1892808"/>
            <a:ext cx="3429000" cy="1874520"/>
          </a:xfrm>
          <a:prstGeom prst="rect">
            <a:avLst/>
          </a:prstGeom>
          <a:solidFill>
            <a:srgbClr val="2E5BD4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828800"/>
            <a:ext cx="3429000" cy="1874520"/>
          </a:xfrm>
          <a:prstGeom prst="rect">
            <a:avLst/>
          </a:prstGeom>
          <a:solidFill>
            <a:srgbClr val="F7F2E2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0116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E5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lessons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230428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22960" y="28346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Reflection, refraction and the human eye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425696" y="1892808"/>
            <a:ext cx="3429000" cy="1874520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361688" y="1828800"/>
            <a:ext cx="3429000" cy="1874520"/>
          </a:xfrm>
          <a:prstGeom prst="rect">
            <a:avLst/>
          </a:prstGeom>
          <a:solidFill>
            <a:srgbClr val="F7F2E2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20116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7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lessons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617720" y="230428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Cell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617720" y="28346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unit every living thing is built from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220456" y="1892808"/>
            <a:ext cx="3429000" cy="1874520"/>
          </a:xfrm>
          <a:prstGeom prst="rect">
            <a:avLst/>
          </a:prstGeom>
          <a:solidFill>
            <a:srgbClr val="2E5BD4"/>
          </a:solidFill>
          <a:ln/>
        </p:spPr>
      </p:sp>
      <p:sp>
        <p:nvSpPr>
          <p:cNvPr id="17" name="Shape 15"/>
          <p:cNvSpPr/>
          <p:nvPr/>
        </p:nvSpPr>
        <p:spPr>
          <a:xfrm>
            <a:off x="8156448" y="1828800"/>
            <a:ext cx="3429000" cy="1874520"/>
          </a:xfrm>
          <a:prstGeom prst="rect">
            <a:avLst/>
          </a:prstGeom>
          <a:solidFill>
            <a:srgbClr val="F7F2E2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0" y="20116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E5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lessons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412480" y="230428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 and Motion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12480" y="28346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Pushes, pulls, pressure and speed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66928" y="39319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Aligned to the NCERT syllabus for Classes 8 and 9.</a:t>
            </a:r>
            <a:endParaRPr lang="en-US" sz="1500" dirty="0"/>
          </a:p>
        </p:txBody>
      </p:sp>
      <p:pic>
        <p:nvPicPr>
          <p:cNvPr id="22" name="Image 0" descr="/Users/ndstab/Desktop/et/docs/screens/fig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389120"/>
            <a:ext cx="2633472" cy="2057400"/>
          </a:xfrm>
          <a:prstGeom prst="rect">
            <a:avLst/>
          </a:prstGeom>
          <a:effectLst>
            <a:outerShdw sx="100000" sy="100000" kx="0" ky="0" algn="bl" rotWithShape="0" blurRad="101600" dist="889" dir="2700000">
              <a:srgbClr val="1E2340">
                <a:alpha val="100000"/>
              </a:srgbClr>
            </a:outerShdw>
          </a:effectLst>
        </p:spPr>
      </p:pic>
      <p:sp>
        <p:nvSpPr>
          <p:cNvPr id="23" name="Text 20"/>
          <p:cNvSpPr/>
          <p:nvPr/>
        </p:nvSpPr>
        <p:spPr>
          <a:xfrm>
            <a:off x="3429000" y="44348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Drawn, not borrowed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3429000" y="489204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figures across the three courses, each built to correct geometry rather than sketched. This one traces a real ray through a glass slab: bent towards the normal going in, away from it coming out, and emerging parallel to the direction it started in, just displaced sideways.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2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2" y="497434"/>
            <a:ext cx="182880" cy="182880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57200"/>
            <a:ext cx="182880" cy="182880"/>
          </a:xfrm>
          <a:prstGeom prst="rect">
            <a:avLst/>
          </a:prstGeom>
          <a:solidFill>
            <a:srgbClr val="2E5BD4"/>
          </a:solidFill>
          <a:ln w="15875">
            <a:solidFill>
              <a:srgbClr val="1E23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5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lesson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84124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lesson is three things at once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66928" y="1828800"/>
            <a:ext cx="4114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80"/>
              </a:lnSpc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reading, with the figures inline where they are needed.</a:t>
            </a:r>
            <a:endParaRPr lang="en-US" sz="1500" dirty="0"/>
          </a:p>
          <a:p>
            <a:pPr marL="342900" indent="-342900">
              <a:lnSpc>
                <a:spcPts val="1980"/>
              </a:lnSpc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film, in a player built for this app.</a:t>
            </a:r>
            <a:endParaRPr lang="en-US" sz="1500" dirty="0"/>
          </a:p>
          <a:p>
            <a:pPr marL="342900" indent="-342900">
              <a:lnSpc>
                <a:spcPts val="1980"/>
              </a:lnSpc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quiz, at the bottom of the same page.</a:t>
            </a:r>
            <a:endParaRPr lang="en-US" sz="1500" dirty="0"/>
          </a:p>
          <a:p>
            <a:pPr marL="342900" indent="-342900">
              <a:lnSpc>
                <a:spcPts val="1980"/>
              </a:lnSpc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rail showing how much of the film has been watched, the best quiz score, and what still needs doing.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66928" y="457200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locked. Learners move freely, and that freedom is itself visible in the data.</a:t>
            </a:r>
            <a:endParaRPr lang="en-US" sz="1350" dirty="0"/>
          </a:p>
        </p:txBody>
      </p:sp>
      <p:pic>
        <p:nvPicPr>
          <p:cNvPr id="8" name="Image 0" descr="/Users/ndstab/Desktop/et/docs/screens/les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783080"/>
            <a:ext cx="5684955" cy="4663440"/>
          </a:xfrm>
          <a:prstGeom prst="rect">
            <a:avLst/>
          </a:prstGeom>
          <a:effectLst>
            <a:outerShdw sx="100000" sy="100000" kx="0" ky="0" algn="bl" rotWithShape="0" blurRad="101600" dist="889" dir="2700000">
              <a:srgbClr val="1E2340">
                <a:alpha val="100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2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2" y="497434"/>
            <a:ext cx="182880" cy="182880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57200"/>
            <a:ext cx="182880" cy="182880"/>
          </a:xfrm>
          <a:prstGeom prst="rect">
            <a:avLst/>
          </a:prstGeom>
          <a:solidFill>
            <a:srgbClr val="2E5BD4"/>
          </a:solidFill>
          <a:ln w="15875">
            <a:solidFill>
              <a:srgbClr val="1E23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5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quiz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84124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 that explain, not just mark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66928" y="1828800"/>
            <a:ext cx="42062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80"/>
              </a:lnSpc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question types: single answer, select all that apply, and numeric entry.</a:t>
            </a:r>
            <a:endParaRPr lang="en-US" sz="1500" dirty="0"/>
          </a:p>
          <a:p>
            <a:pPr marL="342900" indent="-342900">
              <a:lnSpc>
                <a:spcPts val="1980"/>
              </a:lnSpc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Graded on the server, so the answers are never sitting in the page.</a:t>
            </a:r>
            <a:endParaRPr lang="en-US" sz="1500" dirty="0"/>
          </a:p>
          <a:p>
            <a:pPr marL="342900" indent="-342900">
              <a:lnSpc>
                <a:spcPts val="1980"/>
              </a:lnSpc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explanation appears whether the answer was right or wrong.</a:t>
            </a:r>
            <a:endParaRPr lang="en-US" sz="1500" dirty="0"/>
          </a:p>
          <a:p>
            <a:pPr marL="342900" indent="-342900">
              <a:lnSpc>
                <a:spcPts val="1980"/>
              </a:lnSpc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retakes, and every attempt is stored separately.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0936" y="4773168"/>
            <a:ext cx="2011680" cy="1133856"/>
          </a:xfrm>
          <a:prstGeom prst="rect">
            <a:avLst/>
          </a:prstGeom>
          <a:solidFill>
            <a:srgbClr val="2E5BD4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4709160"/>
            <a:ext cx="2011680" cy="1133856"/>
          </a:xfrm>
          <a:prstGeom prst="rect">
            <a:avLst/>
          </a:prstGeom>
          <a:solidFill>
            <a:srgbClr val="F7F2E2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8096" y="4828032"/>
            <a:ext cx="1609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768096" y="5404104"/>
            <a:ext cx="1609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attempts recorded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825496" y="4773168"/>
            <a:ext cx="2011680" cy="1133856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2761488" y="4709160"/>
            <a:ext cx="2011680" cy="1133856"/>
          </a:xfrm>
          <a:prstGeom prst="rect">
            <a:avLst/>
          </a:prstGeom>
          <a:solidFill>
            <a:srgbClr val="F7F2E2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62656" y="4828032"/>
            <a:ext cx="1609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2962656" y="5404104"/>
            <a:ext cx="1609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graded</a:t>
            </a:r>
            <a:endParaRPr lang="en-US" sz="1250" dirty="0"/>
          </a:p>
        </p:txBody>
      </p:sp>
      <p:pic>
        <p:nvPicPr>
          <p:cNvPr id="15" name="Image 0" descr="/Users/ndstab/Desktop/et/docs/screens/qui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6360" y="1783080"/>
            <a:ext cx="6372352" cy="4480560"/>
          </a:xfrm>
          <a:prstGeom prst="rect">
            <a:avLst/>
          </a:prstGeom>
          <a:effectLst>
            <a:outerShdw sx="100000" sy="100000" kx="0" ky="0" algn="bl" rotWithShape="0" blurRad="101600" dist="889" dir="2700000">
              <a:srgbClr val="1E2340">
                <a:alpha val="100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2" y="497434"/>
            <a:ext cx="182880" cy="182880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57200"/>
            <a:ext cx="182880" cy="182880"/>
          </a:xfrm>
          <a:prstGeom prst="rect">
            <a:avLst/>
          </a:prstGeom>
          <a:solidFill>
            <a:srgbClr val="2E5BD4"/>
          </a:solidFill>
          <a:ln w="15875">
            <a:solidFill>
              <a:srgbClr val="1E23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7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system records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84124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5EF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action, in one vocabulary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66928" y="144475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event types across seven components.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146304" cy="146304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8" name="Text 6"/>
          <p:cNvSpPr/>
          <p:nvPr/>
        </p:nvSpPr>
        <p:spPr>
          <a:xfrm>
            <a:off x="877824" y="20574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EF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584448" y="2057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viewed · Element clicked · Link followed · Page scrolled · Page hidden · Page shown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999232"/>
            <a:ext cx="146304" cy="146304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29535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EF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84448" y="295351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 · paused · resumed · seeked · ended · rate changed · volume changed · fullscreen · buffering · milestone · heartbeat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895344"/>
            <a:ext cx="146304" cy="146304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" y="384962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EF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584448" y="3849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started · option selected · answer cleared · question answered · attempt submitted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791456"/>
            <a:ext cx="146304" cy="146304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17" name="Text 15"/>
          <p:cNvSpPr/>
          <p:nvPr/>
        </p:nvSpPr>
        <p:spPr>
          <a:xfrm>
            <a:off x="877824" y="4745736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EF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Lesson, Course, User, Report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584448" y="4745736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viewed · Course viewed · Catalogue viewed · Account created · Logged in and out · Reports viewed · Clickstream exported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7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Clicks are caught by a single listener on the document, so an element nobody thought to instrument is still recorded.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2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2" y="497434"/>
            <a:ext cx="182880" cy="182880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57200"/>
            <a:ext cx="182880" cy="182880"/>
          </a:xfrm>
          <a:prstGeom prst="rect">
            <a:avLst/>
          </a:prstGeom>
          <a:solidFill>
            <a:srgbClr val="2E5BD4"/>
          </a:solidFill>
          <a:ln w="15875">
            <a:solidFill>
              <a:srgbClr val="1E23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5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detail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84124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seek is not just a seek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66928" y="178308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is where the record goes deepest. The player is part of the app, so it reports what an embedded player cannot.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0936" y="2852928"/>
            <a:ext cx="4206240" cy="1371600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2788920"/>
            <a:ext cx="4206240" cy="1371600"/>
          </a:xfrm>
          <a:prstGeom prst="rect">
            <a:avLst/>
          </a:prstGeom>
          <a:solidFill>
            <a:srgbClr val="EDE6CF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292608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"from": 84.2,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"to": 61.0,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"direction": "backward",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"jumpSeconds": 23.2 }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42793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learner rewinding, as stored.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4754880"/>
            <a:ext cx="4206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782"/>
              </a:lnSpc>
              <a:spcAft>
                <a:spcPts val="900"/>
              </a:spcAft>
              <a:buSzPct val="100000"/>
              <a:buChar char="■"/>
            </a:pPr>
            <a:r>
              <a:rPr lang="en-US" sz="135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ends of every seek, plus direction and distance</a:t>
            </a:r>
            <a:endParaRPr lang="en-US" sz="1350" dirty="0"/>
          </a:p>
          <a:p>
            <a:pPr marL="342900" indent="-342900">
              <a:lnSpc>
                <a:spcPts val="1782"/>
              </a:lnSpc>
              <a:spcAft>
                <a:spcPts val="900"/>
              </a:spcAft>
              <a:buSzPct val="100000"/>
              <a:buChar char="■"/>
            </a:pPr>
            <a:r>
              <a:rPr lang="en-US" sz="135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Playback rate and volume changes</a:t>
            </a:r>
            <a:endParaRPr lang="en-US" sz="1350" dirty="0"/>
          </a:p>
          <a:p>
            <a:pPr marL="342900" indent="-342900">
              <a:lnSpc>
                <a:spcPts val="1782"/>
              </a:lnSpc>
              <a:spcAft>
                <a:spcPts val="900"/>
              </a:spcAft>
              <a:buSzPct val="100000"/>
              <a:buChar char="■"/>
            </a:pPr>
            <a:r>
              <a:rPr lang="en-US" sz="135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Buffering stalls, start and end</a:t>
            </a:r>
            <a:endParaRPr lang="en-US" sz="1350" dirty="0"/>
          </a:p>
          <a:p>
            <a:pPr marL="342900" indent="-342900">
              <a:lnSpc>
                <a:spcPts val="1782"/>
              </a:lnSpc>
              <a:spcAft>
                <a:spcPts val="900"/>
              </a:spcAft>
              <a:buSzPct val="100000"/>
              <a:buChar char="■"/>
            </a:pPr>
            <a:r>
              <a:rPr lang="en-US" sz="135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 at 25, 50, 75 and 100 percent</a:t>
            </a:r>
            <a:endParaRPr lang="en-US" sz="1350" dirty="0"/>
          </a:p>
          <a:p>
            <a:pPr marL="342900" indent="-342900">
              <a:lnSpc>
                <a:spcPts val="1782"/>
              </a:lnSpc>
              <a:spcAft>
                <a:spcPts val="900"/>
              </a:spcAft>
              <a:buSzPct val="100000"/>
              <a:buChar char="■"/>
            </a:pPr>
            <a:r>
              <a:rPr lang="en-US" sz="135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Watch-time heartbeats while playing</a:t>
            </a:r>
            <a:endParaRPr lang="en-US" sz="1350" dirty="0"/>
          </a:p>
        </p:txBody>
      </p:sp>
      <p:pic>
        <p:nvPicPr>
          <p:cNvPr id="12" name="Image 0" descr="/Users/ndstab/Desktop/et/docs/screens/event-vide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6360" y="1783080"/>
            <a:ext cx="6144768" cy="4480560"/>
          </a:xfrm>
          <a:prstGeom prst="rect">
            <a:avLst/>
          </a:prstGeom>
          <a:effectLst>
            <a:outerShdw sx="100000" sy="100000" kx="0" ky="0" algn="bl" rotWithShape="0" blurRad="101600" dist="889" dir="2700000">
              <a:srgbClr val="1E2340">
                <a:alpha val="100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2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2" y="497434"/>
            <a:ext cx="182880" cy="182880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57200"/>
            <a:ext cx="182880" cy="182880"/>
          </a:xfrm>
          <a:prstGeom prst="rect">
            <a:avLst/>
          </a:prstGeom>
          <a:solidFill>
            <a:srgbClr val="2E5BD4"/>
          </a:solidFill>
          <a:ln w="15875">
            <a:solidFill>
              <a:srgbClr val="1E23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5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educators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84124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record, live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66928" y="1828800"/>
            <a:ext cx="39319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80"/>
              </a:lnSpc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recorded action, newest first, refreshing on its own.</a:t>
            </a:r>
            <a:endParaRPr lang="en-US" sz="1500" dirty="0"/>
          </a:p>
          <a:p>
            <a:pPr marL="342900" indent="-342900">
              <a:lnSpc>
                <a:spcPts val="1980"/>
              </a:lnSpc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learner, course, component, event name, date range or free text.</a:t>
            </a:r>
            <a:endParaRPr lang="en-US" sz="1500" dirty="0"/>
          </a:p>
          <a:p>
            <a:pPr marL="342900" indent="-342900">
              <a:lnSpc>
                <a:spcPts val="1980"/>
              </a:lnSpc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Descriptions read as sentences naming who did what to which lesson.</a:t>
            </a:r>
            <a:endParaRPr lang="en-US" sz="1500" dirty="0"/>
          </a:p>
          <a:p>
            <a:pPr marL="342900" indent="-342900">
              <a:lnSpc>
                <a:spcPts val="1980"/>
              </a:lnSpc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Educator activity is recorded too, so the log never goes quiet.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0936" y="4636008"/>
            <a:ext cx="1874520" cy="1133856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4572000"/>
            <a:ext cx="1874520" cy="1133856"/>
          </a:xfrm>
          <a:prstGeom prst="rect">
            <a:avLst/>
          </a:prstGeom>
          <a:solidFill>
            <a:srgbClr val="F7F2E2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8096" y="4690872"/>
            <a:ext cx="1472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1,632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768096" y="526694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recorded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688336" y="4636008"/>
            <a:ext cx="1874520" cy="1133856"/>
          </a:xfrm>
          <a:prstGeom prst="rect">
            <a:avLst/>
          </a:prstGeom>
          <a:solidFill>
            <a:srgbClr val="2E5BD4"/>
          </a:solidFill>
          <a:ln/>
        </p:spPr>
      </p:sp>
      <p:sp>
        <p:nvSpPr>
          <p:cNvPr id="12" name="Shape 10"/>
          <p:cNvSpPr/>
          <p:nvPr/>
        </p:nvSpPr>
        <p:spPr>
          <a:xfrm>
            <a:off x="2624328" y="4572000"/>
            <a:ext cx="1874520" cy="1133856"/>
          </a:xfrm>
          <a:prstGeom prst="rect">
            <a:avLst/>
          </a:prstGeom>
          <a:solidFill>
            <a:srgbClr val="F7F2E2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25496" y="4690872"/>
            <a:ext cx="1472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2825496" y="5266944"/>
            <a:ext cx="1472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learners</a:t>
            </a:r>
            <a:endParaRPr lang="en-US" sz="1250" dirty="0"/>
          </a:p>
        </p:txBody>
      </p:sp>
      <p:pic>
        <p:nvPicPr>
          <p:cNvPr id="15" name="Image 0" descr="/Users/ndstab/Desktop/et/docs/screens/event-stre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1783080"/>
            <a:ext cx="6045015" cy="4617720"/>
          </a:xfrm>
          <a:prstGeom prst="rect">
            <a:avLst/>
          </a:prstGeom>
          <a:effectLst>
            <a:outerShdw sx="100000" sy="100000" kx="0" ky="0" algn="bl" rotWithShape="0" blurRad="101600" dist="889" dir="2700000">
              <a:srgbClr val="1E2340">
                <a:alpha val="100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2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2" y="497434"/>
            <a:ext cx="182880" cy="182880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57200"/>
            <a:ext cx="182880" cy="182880"/>
          </a:xfrm>
          <a:prstGeom prst="rect">
            <a:avLst/>
          </a:prstGeom>
          <a:solidFill>
            <a:srgbClr val="2E5BD4"/>
          </a:solidFill>
          <a:ln w="15875">
            <a:solidFill>
              <a:srgbClr val="1E23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5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the data out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84124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Exports in the standard log format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66928" y="178308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gives a CSV in the same seven columns as a Moodle standard log report, so the data drops straight into whatever an institution already uses.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66928" y="297180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48"/>
              </a:lnSpc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on-screen table and the CSV come from the same projection, so they cannot disagree.</a:t>
            </a:r>
            <a:endParaRPr lang="en-US" sz="1400" dirty="0"/>
          </a:p>
          <a:p>
            <a:pPr marL="342900" indent="-342900">
              <a:lnSpc>
                <a:spcPts val="1848"/>
              </a:lnSpc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apply to the export, so an educator can pull one learner or one course.</a:t>
            </a:r>
            <a:endParaRPr lang="en-US" sz="1400" dirty="0"/>
          </a:p>
          <a:p>
            <a:pPr marL="342900" indent="-342900">
              <a:lnSpc>
                <a:spcPts val="1848"/>
              </a:lnSpc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with a byte order mark, so Excel opens the UTF-8 correctly.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783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seven columns</a:t>
            </a:r>
            <a:endParaRPr lang="en-US" sz="1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2240280"/>
          <a:ext cx="49377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5603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23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5BD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occurred_at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E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23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 context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5BD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context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E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23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5BD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component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E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23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 name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5BD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event_name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E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23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5BD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description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E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23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5BD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origin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E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23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 address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5BD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ip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0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E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2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2" y="497434"/>
            <a:ext cx="182880" cy="182880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57200"/>
            <a:ext cx="182880" cy="182880"/>
          </a:xfrm>
          <a:prstGeom prst="rect">
            <a:avLst/>
          </a:prstGeom>
          <a:solidFill>
            <a:srgbClr val="2E5BD4"/>
          </a:solidFill>
          <a:ln w="15875">
            <a:solidFill>
              <a:srgbClr val="1E23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5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Analytics, one of three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84124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learners stop watching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66928" y="178308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63 video starts, 100% reached a quarter of the way, 75% reached half, 41% reached three quarters, and 3% reached the end.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66928" y="3200400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cliff between two points is the moment to look at. It usually means the explanation lost people there, not that the film was too long.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45720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2E5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which is visible from a grade book.</a:t>
            </a:r>
            <a:endParaRPr lang="en-US" sz="1400" dirty="0"/>
          </a:p>
        </p:txBody>
      </p:sp>
      <p:pic>
        <p:nvPicPr>
          <p:cNvPr id="9" name="Image 0" descr="/Users/ndstab/Desktop/et/docs/screens/analyt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1783080"/>
            <a:ext cx="6517843" cy="4526280"/>
          </a:xfrm>
          <a:prstGeom prst="rect">
            <a:avLst/>
          </a:prstGeom>
          <a:effectLst>
            <a:outerShdw sx="100000" sy="100000" kx="0" ky="0" algn="bl" rotWithShape="0" blurRad="101600" dist="889" dir="2700000">
              <a:srgbClr val="1E2340">
                <a:alpha val="100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2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2" y="497434"/>
            <a:ext cx="182880" cy="182880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57200"/>
            <a:ext cx="182880" cy="182880"/>
          </a:xfrm>
          <a:prstGeom prst="rect">
            <a:avLst/>
          </a:prstGeom>
          <a:solidFill>
            <a:srgbClr val="2E5BD4"/>
          </a:solidFill>
          <a:ln w="15875">
            <a:solidFill>
              <a:srgbClr val="1E23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5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Analytics, two of three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84124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questions are actually hard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66928" y="1828800"/>
            <a:ext cx="3931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80"/>
              </a:lnSpc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 correct across all 483 recorded answers, hardest first.</a:t>
            </a:r>
            <a:endParaRPr lang="en-US" sz="1500" dirty="0"/>
          </a:p>
          <a:p>
            <a:pPr marL="342900" indent="-342900">
              <a:lnSpc>
                <a:spcPts val="1980"/>
              </a:lnSpc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attempt counts, including retakes.</a:t>
            </a:r>
            <a:endParaRPr lang="en-US" sz="1500" dirty="0"/>
          </a:p>
          <a:p>
            <a:pPr marL="342900" indent="-342900">
              <a:lnSpc>
                <a:spcPts val="1980"/>
              </a:lnSpc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question that stays red after repeated attempts is a teaching problem, not a difficulty setting.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0936" y="4361688"/>
            <a:ext cx="3931920" cy="1737360"/>
          </a:xfrm>
          <a:prstGeom prst="rect">
            <a:avLst/>
          </a:prstGeom>
          <a:solidFill>
            <a:srgbClr val="2E5BD4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4297680"/>
            <a:ext cx="3931920" cy="1737360"/>
          </a:xfrm>
          <a:prstGeom prst="rect">
            <a:avLst/>
          </a:prstGeom>
          <a:solidFill>
            <a:srgbClr val="EDE6CF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4480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E5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Hardest right now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477316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every situation in which a light ray does not change direction.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04672" y="559612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correct across 9 answers</a:t>
            </a:r>
            <a:endParaRPr lang="en-US" sz="1300" dirty="0"/>
          </a:p>
        </p:txBody>
      </p:sp>
      <p:pic>
        <p:nvPicPr>
          <p:cNvPr id="12" name="Image 0" descr="/Users/ndstab/Desktop/et/docs/screens/difficul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1783080"/>
            <a:ext cx="6517843" cy="4526280"/>
          </a:xfrm>
          <a:prstGeom prst="rect">
            <a:avLst/>
          </a:prstGeom>
          <a:effectLst>
            <a:outerShdw sx="100000" sy="100000" kx="0" ky="0" algn="bl" rotWithShape="0" blurRad="101600" dist="889" dir="2700000">
              <a:srgbClr val="1E2340">
                <a:alpha val="100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2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2" y="497434"/>
            <a:ext cx="182880" cy="182880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57200"/>
            <a:ext cx="182880" cy="182880"/>
          </a:xfrm>
          <a:prstGeom prst="rect">
            <a:avLst/>
          </a:prstGeom>
          <a:solidFill>
            <a:srgbClr val="2E5BD4"/>
          </a:solidFill>
          <a:ln w="15875">
            <a:solidFill>
              <a:srgbClr val="1E23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5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Analytics, three of three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84124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work actually happens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66928" y="1828800"/>
            <a:ext cx="3840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80"/>
              </a:lnSpc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per hour, most recent on the right.</a:t>
            </a:r>
            <a:endParaRPr lang="en-US" sz="1500" dirty="0"/>
          </a:p>
          <a:p>
            <a:pPr marL="342900" indent="-342900">
              <a:lnSpc>
                <a:spcPts val="1980"/>
              </a:lnSpc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whether a class works during the school day or late at night.</a:t>
            </a:r>
            <a:endParaRPr lang="en-US" sz="1500" dirty="0"/>
          </a:p>
          <a:p>
            <a:pPr marL="342900" indent="-342900">
              <a:lnSpc>
                <a:spcPts val="1980"/>
              </a:lnSpc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34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that a spike lines up with a lesson being set.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0936" y="4178808"/>
            <a:ext cx="1828800" cy="1133856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4114800"/>
            <a:ext cx="1828800" cy="1133856"/>
          </a:xfrm>
          <a:prstGeom prst="rect">
            <a:avLst/>
          </a:prstGeom>
          <a:solidFill>
            <a:srgbClr val="F7F2E2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8096" y="4233672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1,632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768096" y="4809744"/>
            <a:ext cx="1426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642616" y="4178808"/>
            <a:ext cx="1828800" cy="1133856"/>
          </a:xfrm>
          <a:prstGeom prst="rect">
            <a:avLst/>
          </a:prstGeom>
          <a:solidFill>
            <a:srgbClr val="2E5BD4"/>
          </a:solidFill>
          <a:ln/>
        </p:spPr>
      </p:sp>
      <p:sp>
        <p:nvSpPr>
          <p:cNvPr id="12" name="Shape 10"/>
          <p:cNvSpPr/>
          <p:nvPr/>
        </p:nvSpPr>
        <p:spPr>
          <a:xfrm>
            <a:off x="2578608" y="4114800"/>
            <a:ext cx="1828800" cy="1133856"/>
          </a:xfrm>
          <a:prstGeom prst="rect">
            <a:avLst/>
          </a:prstGeom>
          <a:solidFill>
            <a:srgbClr val="F7F2E2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79776" y="4233672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2779776" y="4809744"/>
            <a:ext cx="1426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 watched</a:t>
            </a:r>
            <a:endParaRPr lang="en-US" sz="1250" dirty="0"/>
          </a:p>
        </p:txBody>
      </p:sp>
      <p:pic>
        <p:nvPicPr>
          <p:cNvPr id="15" name="Image 0" descr="/Users/ndstab/Desktop/et/docs/screens/ac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1783080"/>
            <a:ext cx="6375774" cy="4206240"/>
          </a:xfrm>
          <a:prstGeom prst="rect">
            <a:avLst/>
          </a:prstGeom>
          <a:effectLst>
            <a:outerShdw sx="100000" sy="100000" kx="0" ky="0" algn="bl" rotWithShape="0" blurRad="101600" dist="889" dir="2700000">
              <a:srgbClr val="1E2340">
                <a:alpha val="100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2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7162" y="497434"/>
            <a:ext cx="182880" cy="182880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57200"/>
            <a:ext cx="182880" cy="182880"/>
          </a:xfrm>
          <a:prstGeom prst="rect">
            <a:avLst/>
          </a:prstGeom>
          <a:solidFill>
            <a:srgbClr val="2E5BD4"/>
          </a:solidFill>
          <a:ln w="15875">
            <a:solidFill>
              <a:srgbClr val="1E23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5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84124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from one folder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66928" y="1874520"/>
            <a:ext cx="146304" cy="146304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15 and React 19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77824" y="2212848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Router and TypeScript throughout.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27648" y="1874520"/>
            <a:ext cx="146304" cy="146304"/>
          </a:xfrm>
          <a:prstGeom prst="rect">
            <a:avLst/>
          </a:prstGeom>
          <a:solidFill>
            <a:srgbClr val="2E5BD4"/>
          </a:solidFill>
          <a:ln/>
        </p:spPr>
      </p:sp>
      <p:sp>
        <p:nvSpPr>
          <p:cNvPr id="10" name="Text 8"/>
          <p:cNvSpPr/>
          <p:nvPr/>
        </p:nvSpPr>
        <p:spPr>
          <a:xfrm>
            <a:off x="6638544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638544" y="2212848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system is one file. No service to provision, no deployment needed.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29000"/>
            <a:ext cx="146304" cy="146304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3383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CSS tokens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77824" y="3767328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colour an OKLCH custom property. No component library.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327648" y="3429000"/>
            <a:ext cx="146304" cy="146304"/>
          </a:xfrm>
          <a:prstGeom prst="rect">
            <a:avLst/>
          </a:prstGeom>
          <a:solidFill>
            <a:srgbClr val="2E5BD4"/>
          </a:solidFill>
          <a:ln/>
        </p:spPr>
      </p:sp>
      <p:sp>
        <p:nvSpPr>
          <p:cNvPr id="16" name="Text 14"/>
          <p:cNvSpPr/>
          <p:nvPr/>
        </p:nvSpPr>
        <p:spPr>
          <a:xfrm>
            <a:off x="6638544" y="3383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Charts drawn by hand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638544" y="3767328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E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SVG charts and twelve figures, in the same palette and line weights.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30936" y="5047488"/>
            <a:ext cx="11064240" cy="1097280"/>
          </a:xfrm>
          <a:prstGeom prst="rect">
            <a:avLst/>
          </a:prstGeom>
          <a:solidFill>
            <a:srgbClr val="2E5BD4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4983480"/>
            <a:ext cx="11064240" cy="1097280"/>
          </a:xfrm>
          <a:prstGeom prst="rect">
            <a:avLst/>
          </a:prstGeom>
          <a:solidFill>
            <a:srgbClr val="EDE6CF"/>
          </a:solidFill>
          <a:ln w="19050">
            <a:solidFill>
              <a:srgbClr val="1E23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5230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Clone, install, seed, run. Three commands and a browser, with the lesson films already in the repository.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325" y="635325"/>
            <a:ext cx="310896" cy="310896"/>
          </a:xfrm>
          <a:prstGeom prst="rect">
            <a:avLst/>
          </a:prstGeom>
          <a:solidFill>
            <a:srgbClr val="E8763C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566928"/>
            <a:ext cx="310896" cy="310896"/>
          </a:xfrm>
          <a:prstGeom prst="rect">
            <a:avLst/>
          </a:prstGeom>
          <a:solidFill>
            <a:srgbClr val="2E5BD4"/>
          </a:solidFill>
          <a:ln w="15875">
            <a:solidFill>
              <a:srgbClr val="1E23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92024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0" b="1" dirty="0">
                <a:solidFill>
                  <a:srgbClr val="F5EF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Lumen</a:t>
            </a:r>
            <a:endParaRPr lang="en-US" sz="6200" dirty="0"/>
          </a:p>
        </p:txBody>
      </p:sp>
      <p:sp>
        <p:nvSpPr>
          <p:cNvPr id="5" name="Text 3"/>
          <p:cNvSpPr/>
          <p:nvPr/>
        </p:nvSpPr>
        <p:spPr>
          <a:xfrm>
            <a:off x="566928" y="30175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E87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it. Watch it. Then prove you have it.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66928" y="3840480"/>
            <a:ext cx="2194560" cy="41148"/>
          </a:xfrm>
          <a:prstGeom prst="rect">
            <a:avLst/>
          </a:prstGeom>
          <a:solidFill>
            <a:srgbClr val="2E5BD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2062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5EF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1,632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66928" y="4754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recorded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355848" y="42062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5EF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355848" y="4754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types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144768" y="42062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5EF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144768" y="4754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933688" y="42062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5EF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933688" y="4754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graded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66928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5EF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github.com/ndstab/lumen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Lumen</dc:title>
  <dc:subject>PptxGenJS Presentation</dc:subject>
  <dc:creator>ndstab</dc:creator>
  <cp:lastModifiedBy>ndstab</cp:lastModifiedBy>
  <cp:revision>1</cp:revision>
  <dcterms:created xsi:type="dcterms:W3CDTF">2026-08-05T17:21:23Z</dcterms:created>
  <dcterms:modified xsi:type="dcterms:W3CDTF">2026-08-05T17:21:23Z</dcterms:modified>
</cp:coreProperties>
</file>